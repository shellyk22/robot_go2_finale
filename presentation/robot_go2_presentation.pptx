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7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98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28" y="4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233"/>
                </a:solidFill>
                <a:latin typeface="Arial"/>
              </a:defRPr>
            </a:pPr>
            <a:r>
              <a:rPr lang="he-IL" sz="1300" b="0" i="0" u="none" strike="noStrike" dirty="0">
                <a:solidFill>
                  <a:srgbClr val="1A2233"/>
                </a:solidFill>
                <a:latin typeface="Arial"/>
              </a:rPr>
              <a:t>זמן ממוצע להשלמת המסלול</a:t>
            </a:r>
            <a:endParaRPr lang="en-US" sz="1300" b="0" i="0" u="none" strike="noStrike" dirty="0">
              <a:solidFill>
                <a:srgbClr val="1A2233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זמן הליכה (שנ')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7F-4FCA-BFD9-4AE7CD49C7BC}"/>
              </c:ext>
            </c:extLst>
          </c:dPt>
          <c:dPt>
            <c:idx val="1"/>
            <c:invertIfNegative val="0"/>
            <c:bubble3D val="0"/>
            <c:spPr>
              <a:solidFill>
                <a:srgbClr val="F2A9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7F-4FCA-BFD9-4AE7CD49C7B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הליכה לבד</c:v>
                </c:pt>
                <c:pt idx="1">
                  <c:v>מפגש ראשון עם הכלב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15.49</c:v>
                </c:pt>
                <c:pt idx="1">
                  <c:v>17.28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7F-4FCA-BFD9-4AE7CD49C7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A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he-IL" b="0" i="0" u="none" strike="noStrike">
                    <a:solidFill>
                      <a:srgbClr val="000000"/>
                    </a:solidFill>
                    <a:latin typeface="Arial"/>
                  </a:rPr>
                  <a:t>שניות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Arial"/>
              </a:defRPr>
            </a:pPr>
            <a:r>
              <a:rPr lang="he-IL" sz="1200" b="0" i="0" u="none" strike="noStrike" dirty="0">
                <a:solidFill>
                  <a:srgbClr val="1A2233"/>
                </a:solidFill>
                <a:latin typeface="Arial"/>
              </a:rPr>
              <a:t>אחוז ההאטה יורד עם ההתרגלות</a:t>
            </a:r>
            <a:endParaRPr lang="en-US" sz="1200" b="0" i="0" u="none" strike="noStrike" dirty="0">
              <a:solidFill>
                <a:srgbClr val="1A2233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האטה יחסית (%)</c:v>
                </c:pt>
              </c:strCache>
            </c:strRef>
          </c:tx>
          <c:spPr>
            <a:solidFill>
              <a:srgbClr val="F2A9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E0-4518-B979-D8DC9BB123D8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E0-4518-B979-D8DC9BB123D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מפגש ראשון</c:v>
                </c:pt>
                <c:pt idx="1">
                  <c:v>הליכה שנייה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14.3</c:v>
                </c:pt>
                <c:pt idx="1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E0-4518-B979-D8DC9BB123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233"/>
                </a:solidFill>
                <a:latin typeface="Arial"/>
              </a:rPr>
              <a:t>RMSE — </a:t>
            </a:r>
            <a:r>
              <a:rPr lang="he-IL" sz="1200" b="0" i="0" u="none" strike="noStrike">
                <a:solidFill>
                  <a:srgbClr val="1A2233"/>
                </a:solidFill>
                <a:latin typeface="Arial"/>
              </a:rPr>
              <a:t>טעות ממוצעת על אותם 23 נסייני בדיקה (מ'/ש', נמוך יותר טוב יותר)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5C708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C7-4444-BF3E-E361094CC7AC}"/>
              </c:ext>
            </c:extLst>
          </c:dPt>
          <c:dPt>
            <c:idx val="1"/>
            <c:invertIfNegative val="0"/>
            <c:bubble3D val="0"/>
            <c:spPr>
              <a:solidFill>
                <a:srgbClr val="B3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C7-4444-BF3E-E361094CC7AC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C7-4444-BF3E-E361094CC7AC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ניחוש נאיבי</c:v>
                </c:pt>
                <c:pt idx="1">
                  <c:v>קוד הרובוט הנוכחי</c:v>
                </c:pt>
                <c:pt idx="2">
                  <c:v>מודל 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0.191</c:v>
                </c:pt>
                <c:pt idx="1">
                  <c:v>0.25600000000000001</c:v>
                </c:pt>
                <c:pt idx="2">
                  <c:v>0.16800000000000001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C7-4444-BF3E-E361094CC7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3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91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kern="0" spc="100" dirty="0">
                <a:solidFill>
                  <a:srgbClr val="F2A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אינטראקציית אדם–רובוט  •  אוניברסיטת בר־אילן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0104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פרויקט 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r>
              <a:rPr lang="he-IL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ליווי ומודל למידה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25400">
            <a:solidFill>
              <a:srgbClr val="F2A95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5000"/>
              </a:lnSpc>
              <a:buNone/>
            </a:pPr>
            <a:r>
              <a:rPr lang="he-IL" sz="125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מגישות: שלי קורצקי ואוריאן אילוז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github.com/shellyk22/robot_go2_finale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מבוא לפרויקט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רובוט שמלווה הליכה אנושית, ומודל שלומד לחזות אותה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הפרויקט בוחן אינטראקציה בין בני אדם לרובוט מלווה, ומשווה בין הליכה עם רצועה סימבולית לבין הליכה בלעדיה — לצד פיתוח מודל שחוזה את תנועת האדם, כדי שהבקר יוכל להקדים אותה במקום להגיב באיחור.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988820" y="2788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198882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קוד הבקרה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5196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עקיבה מבוססת UWB </a:t>
            </a: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הרצה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בפועל על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רובוט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ה-Go2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5737860" y="2788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573786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49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ניסוי מחקר מבוקר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</a:t>
            </a: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נסיינים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הלכו לצד הרובוט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תחת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</a:t>
            </a: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מדויק.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לבד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עם כלב, ועם/בלי רצועה, בסדר אקראי.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231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9486900" y="27889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9486900" y="2788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749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מודל</a:t>
            </a: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למידה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25196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שמנבא</a:t>
            </a: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את מהירות ההליכה של האדם כ-0.36 שניות מראש, כדי שהרובוט יגיב מבעוד מועד.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הבקרה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ארכיטקטורת הבקרה: עקיבה מבוססת UWB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16024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בקרת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+ Feed-Forward </a:t>
            </a:r>
            <a:r>
              <a:rPr lang="he-IL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כולל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התאמת מהירות לקצב האדם והתחמקות צידית א-סימטרית מהאדם</a:t>
            </a:r>
            <a:endParaRPr lang="en-US" sz="1400" dirty="0"/>
          </a:p>
          <a:p>
            <a:pPr algn="r" rtl="1">
              <a:lnSpc>
                <a:spcPct val="120000"/>
              </a:lnSpc>
              <a:spcAft>
                <a:spcPts val="1600"/>
              </a:spcAft>
            </a:pPr>
            <a:r>
              <a:rPr lang="he-IL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בטיחות שכולל תזוזה מהירה הצידה במקרה שהכלב קולט שהוא התקרב בצורה מסוכנת לאדם </a:t>
            </a:r>
            <a:endParaRPr lang="en-US" sz="140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הרובוט מוגדר לשמור מרחק קבוע של כמטר מהנסיין לאורך כל מסלול ההליכה</a:t>
            </a:r>
            <a:endParaRPr lang="en-US" sz="140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he-IL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תיעוד מלא של ההליכה של כל נסיין בקובץ 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r>
              <a:rPr lang="he-IL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לצורך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ניתוח לאחר מעשה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0" y="164592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736092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בטיחות עודפת (Redundancy)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עוזרי המחקר תורגלו ועברו הדרכה מסודרת בעצירת הרובוט — שלוש דרכי עצירה עצמאיות: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263391"/>
              </p:ext>
            </p:extLst>
          </p:nvPr>
        </p:nvGraphicFramePr>
        <p:xfrm>
          <a:off x="7360920" y="2971800"/>
          <a:ext cx="3931920" cy="169468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אמצעי עצירה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לחצן עצירת </a:t>
                      </a: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חירום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he-IL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(E-Stop) </a:t>
                      </a:r>
                      <a:r>
                        <a:rPr lang="he-IL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על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השלט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פקודת מקלדת (Ctrl+C) </a:t>
                      </a:r>
                      <a:r>
                        <a:rPr lang="he-IL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בתחנת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הבקרה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לחצן מצוקה (UWB Button) </a:t>
                      </a:r>
                      <a:r>
                        <a:rPr lang="he-IL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</a:p>
                    <a:p>
                      <a:pPr marL="0" indent="0" algn="r" rtl="1">
                        <a:buNone/>
                      </a:pP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על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התג הנישא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360920" y="4617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האדם קובע את הקצב — הרובוט רק עוקב, ומהירותו מוגבלת למהירות האדם + 0.8 מ'/ש'.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הבקרה — עומק נוסף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ארכיטקטורת התוכנה: שלושה תהליכים הרצים במקביל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061972" y="1709928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 txBox="1"/>
          <p:nvPr/>
        </p:nvSpPr>
        <p:spPr>
          <a:xfrm>
            <a:off x="2061972" y="17099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לולאת בקרה (~‎25Hz‎)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ה‎-Follow‎ ‎Controller‎ מעבד את נתוני חיישן ה‎-UWB‎ ומחשב את פקודת התנועה הבאה.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5811012" y="1709928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 txBox="1"/>
          <p:nvPr/>
        </p:nvSpPr>
        <p:spPr>
          <a:xfrm>
            <a:off x="5811012" y="17099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מבצע תנועה (‎50Hz‎)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שולח פקודות מהירות למנועים ברצף קבוע, ומונע "קפיאה" של הרובוט.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9560052" y="1709928"/>
            <a:ext cx="585216" cy="58521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 txBox="1"/>
          <p:nvPr/>
        </p:nvSpPr>
        <p:spPr>
          <a:xfrm>
            <a:off x="9560052" y="17099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ראשי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97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אחראי על רצף האתחול של המערכת ועל כיבוי מסודר בסיום הריצה.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שיתוף מידע בין התהליכים: </a:t>
            </a:r>
            <a:r>
              <a:rPr lang="en-US" sz="1250" b="1" i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מילון</a:t>
            </a: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‎ behavior‎ </a:t>
            </a:r>
            <a:r>
              <a:rPr lang="en-US" sz="1250" b="1" i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משותף</a:t>
            </a: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ו‎  </a:t>
            </a:r>
            <a:r>
              <a:rPr lang="en-US" sz="1250" b="1" i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stop_event</a:t>
            </a: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 המאפשר עצירת חירום מיידית מכל אחד מהם.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קבצי הליבה של הקוד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607447"/>
              </p:ext>
            </p:extLst>
          </p:nvPr>
        </p:nvGraphicFramePr>
        <p:xfrm>
          <a:off x="640080" y="4544568"/>
          <a:ext cx="10881360" cy="15316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קובץ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תפקיד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yolo_follow.py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נקודת הכניסה הראשית — רצף עלייה, טיפול בחירום וכיבוי מסודר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system_init.py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מאתחל את </a:t>
                      </a: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ה‎-SDK‎ </a:t>
                      </a:r>
                      <a:r>
                        <a:rPr lang="en-US" sz="1000" b="1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של</a:t>
                      </a: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הרובוט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follow_controller.py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אלגוריתם</a:t>
                      </a: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הבקרה</a:t>
                      </a: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‎PI,‎ חיזוי מהירות, ומנגנוני בטיחות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uwb_state_manager.py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שומר את המיקום והכיוון הנוכחיים מהשלט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uwb_button_monitor.py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מזהה לחיצות כפתור חירום (‎M/P‎) לעצירה מיידית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‎robot_go2_finale‎  |  בקר עקיבה מבוסס ‎UWB‎ לרובוט ‎Unitree‎ ‎Go2‎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הבקרה — עומק נוסף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בתוך אלגוריתם הבקרה: איך הרובוט מחליט לזוז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126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תגובה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צידית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א-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סימטרית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התחמקות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אגרסיבית כשהיעד קרוב מדי, ותיקון עדין בכל מצב אחר</a:t>
            </a:r>
            <a:endParaRPr lang="en-US" sz="1350" dirty="0"/>
          </a:p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התאמת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את מהירות הרובוט למהירות האדם הנוכחית</a:t>
            </a:r>
            <a:endParaRPr lang="en-US" sz="1350" dirty="0"/>
          </a:p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פיצוי על תנועה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עצמית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מביא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בחשבון את תנועת הרובוט עצמו בעת הערכת מיקום היעד</a:t>
            </a:r>
            <a:endParaRPr lang="en-US" sz="1350" dirty="0"/>
          </a:p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תיקון זווית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פנייה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3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מכוון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את הרובוט לכיוון הליכת האדם באמצעות חישוב ארקטנגנס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86600" y="1691640"/>
            <a:ext cx="4480560" cy="4297680"/>
          </a:xfrm>
          <a:prstGeom prst="roundRect">
            <a:avLst>
              <a:gd name="adj" fmla="val 1702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 txBox="1"/>
          <p:nvPr/>
        </p:nvSpPr>
        <p:spPr>
          <a:xfrm>
            <a:off x="73609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מנגנוני בטיחות בליבת האלגוריתם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נסיגת חירום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8803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עוקפת את כל הפקודות הרגילות אם האדם חוצה את גבול הבטיחות של ‎0.65‎ מטר.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3749040"/>
            <a:ext cx="3931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 txBox="1"/>
          <p:nvPr/>
        </p:nvSpPr>
        <p:spPr>
          <a:xfrm>
            <a:off x="736092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החלקה והגבלת קצב שינוי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251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 נע אקספוננציאלי מחליק את הפלט, עם הגבלות א-סימטריות נפרדות להאצה ולהאטה.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60920" y="5166360"/>
            <a:ext cx="393192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 txBox="1"/>
          <p:nvPr/>
        </p:nvSpPr>
        <p:spPr>
          <a:xfrm>
            <a:off x="7360920" y="5303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המנגנונים האלה פועלים בנוסף לשלוש דרכי העצירה הידניות שהוצגו קודם.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‎robot_go2_finale‎  |  בקר עקיבה מבוסס ‎UWB‎ לרובוט ‎Unitree‎ ‎Go2‎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 הניסוי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פרוטוקול מבוקר: הליכה משותפת עם כלב רובוטי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מסגרת אתית ומחקרית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אושר מראש על ידי ועדת האתיקה (IRB) של האוניברסיטה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נסיין חתם על טופס הסכמה מדעת לפני תחילת ההליכה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עוזר המחקר הציג לנסיינים הדגמה של הרובוט לפני תחילת המפגש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מסלול וזירת ההליכה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בוצע</a:t>
            </a: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ברחבה</a:t>
            </a: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שמתחת לבניין מדעי המחשב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 ירוק סימן את נקודת ההתחלה/סיום, קו לבן סימן </a:t>
            </a:r>
            <a:r>
              <a:rPr lang="en-US" sz="11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נקודת</a:t>
            </a: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התחלת האטה</a:t>
            </a: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במסלול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נסיין עבר את שלושת התנאים (A/B/C) בסדר אקראי, למניעת הטיית סדר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813816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איסוף נתונים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331720"/>
            <a:ext cx="3154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</a:t>
            </a:r>
            <a:r>
              <a:rPr lang="he-IL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ם </a:t>
            </a: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טכניים</a:t>
            </a: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מהרובוט</a:t>
            </a: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</a:t>
            </a: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מרחק</a:t>
            </a:r>
            <a:r>
              <a:rPr lang="he-IL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15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בזמן</a:t>
            </a: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אמת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זמני השלמת מסלול לכל תנאי, לכל נסיין</a:t>
            </a:r>
            <a:endParaRPr lang="en-US" sz="1150" dirty="0"/>
          </a:p>
          <a:p>
            <a:pPr marL="0" indent="0" algn="r" rtl="1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שאלון ביניים בתום כל שלב + שאלון מסכם, דרך Google Forms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הניסוי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10837" y="626364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שני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סוגי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ניסוי, שאוחדו יחד לניתוח סטטיסטי אחד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2719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22123" y="327583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נסיינים בסך הכול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131629" y="1534886"/>
            <a:ext cx="3602866" cy="4109357"/>
          </a:xfrm>
          <a:prstGeom prst="roundRect">
            <a:avLst>
              <a:gd name="adj" fmla="val 181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7802575" y="17785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</a:t>
            </a:r>
            <a:r>
              <a:rPr lang="he-IL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הניסוי</a:t>
            </a: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המלא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59775" y="2404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73 נסיינים שעברו את שלושת התנאים, בסדר אקראי: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02575" y="2815046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000"/>
              </a:spcAft>
              <a:buNone/>
            </a:pP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הליכה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רגילה ללא הרובוט</a:t>
            </a:r>
            <a:endParaRPr lang="en-US" sz="1600" dirty="0"/>
          </a:p>
          <a:p>
            <a:pPr marL="0" indent="0" algn="r" rtl="1">
              <a:lnSpc>
                <a:spcPct val="120000"/>
              </a:lnSpc>
              <a:spcAft>
                <a:spcPts val="1000"/>
              </a:spcAft>
              <a:buNone/>
            </a:pP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הליכה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עם הרובוט, בלי רצועה</a:t>
            </a:r>
            <a:endParaRPr lang="en-US" sz="1600" dirty="0"/>
          </a:p>
          <a:p>
            <a:pPr marL="0" indent="0" algn="r" rtl="1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הליכה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עם הרובוט, עם רצועה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08E59C52-DA53-ACE2-03BA-C2BA346C752E}"/>
              </a:ext>
            </a:extLst>
          </p:cNvPr>
          <p:cNvSpPr/>
          <p:nvPr/>
        </p:nvSpPr>
        <p:spPr>
          <a:xfrm>
            <a:off x="3604260" y="1534886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DCEAF0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D9DED4E-F65B-1B43-BB67-B85176574CBF}"/>
              </a:ext>
            </a:extLst>
          </p:cNvPr>
          <p:cNvSpPr txBox="1"/>
          <p:nvPr/>
        </p:nvSpPr>
        <p:spPr>
          <a:xfrm>
            <a:off x="3787140" y="180158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 </a:t>
            </a:r>
            <a:r>
              <a:rPr lang="he-IL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ניסוי</a:t>
            </a: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חוזר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C3D8CE77-5F80-00ED-0A6F-D6F5FC832374}"/>
              </a:ext>
            </a:extLst>
          </p:cNvPr>
          <p:cNvSpPr txBox="1"/>
          <p:nvPr/>
        </p:nvSpPr>
        <p:spPr>
          <a:xfrm>
            <a:off x="3915286" y="1996404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נסיינים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נוספים, שתי הליכות כלב זהות ללא רצועה — נועד לבודד את אפקט ההתרגלות בפני עצמו, ללא ערבוב עם שינוי תנאים.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 המחקר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שני ערוצי מדידה בלתי-תלויים: זמן בפועל והרגשה מדווחת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מדידה אובייקטיבית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השלמת הליכה על מסלול קבוע, בכל אחד משלושת התנאים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he-IL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מדידות נתונים שתורגמו ל</a:t>
            </a:r>
            <a:r>
              <a:rPr lang="en-US" sz="12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בתדר 10Hz </a:t>
            </a:r>
            <a:r>
              <a:rPr lang="he-IL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נסיין, לאורך כל ההליכה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הזמן משמש מדד עקיף אמין למהירות ההליכה בפועל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מדידה סובייקטיבית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שאלון ביניים לאחר כל שלב: טבעיות ההליכה, תחושת ביטחון ושמירה על קצב, בסולם 1–9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שאלון מסכם בתום הניסוי: ביטחון, שליטה ותחושת "שותפות" עם הכלב, בהשוואה בין הליכה עם רצועה ובלעדיה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השאלונים נאספו דרך Google Forms, מיד בתום כל שלב ובסיום הניסוי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ממצא מרכזי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נוכחות הרובוט מאטה את ההליכה באופן עקבי ומובהק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10459772"/>
              </p:ext>
            </p:extLst>
          </p:nvPr>
        </p:nvGraphicFramePr>
        <p:xfrm>
          <a:off x="640080" y="1691640"/>
          <a:ext cx="5760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+14.3%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651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האטה יחסית במפגש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הראשון</a:t>
            </a: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+2.12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</a:t>
            </a: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35204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מהנסיינים הלכו לאט יותר בנוכחות הרובוט — פער חציוני של +1.50 שנ' (p&lt;0.0001)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התופעה חזרה על עצמה בשני עיצובי הניסוי בנפרד: ABC (p&lt;1e-8) ו-ABB (p&lt;1e-4)</a:t>
            </a:r>
            <a:endParaRPr lang="en-US" sz="1250" dirty="0"/>
          </a:p>
          <a:p>
            <a:pPr marL="0" indent="0" algn="r" rtl="1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האפקט (rank-biserial 0.58–0.80, על סולם 0 עד 1) מסווג כ"גדול" — לא הבדל שולי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התרגלות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ההתרגלות אמיתית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וניתנת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למדידה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אך אינה מוחקת את ההאטה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87373666"/>
              </p:ext>
            </p:extLst>
          </p:nvPr>
        </p:nvGraphicFramePr>
        <p:xfrm>
          <a:off x="640080" y="1691640"/>
          <a:ext cx="51206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78308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בהליכה השנייה עם הכלב, 68% מהנסיינים הלכו מהר יותר מבפעם הראשונה — שיפור ממוצע של 0.84 </a:t>
            </a:r>
            <a:r>
              <a:rPr lang="en-US" sz="13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(p=0.014)</a:t>
            </a:r>
            <a:endParaRPr lang="en-US" sz="130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 זאת, גם לאחר ההתרגלות ההליכה נותרה איטית מהליכה עצמאית: 79% עדיין איטיים יותר (p=0.006)</a:t>
            </a:r>
            <a:endParaRPr lang="en-US" sz="130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מתוך "הלם המפגש הראשון", כ-46% </a:t>
            </a:r>
            <a:r>
              <a:rPr lang="he-IL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נסוג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עד ההליכה השנייה — אך נותר "מחיר קבוע" של כשנייה אחת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48920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 txBox="1"/>
          <p:nvPr/>
        </p:nvSpPr>
        <p:spPr>
          <a:xfrm>
            <a:off x="6309360" y="5029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המסקנה: ההתרגלות מקטינה את ההאטה בכמחצית — אך אינה מבטלת אותה.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F2A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פרדוקס הרצועה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הרצועה אינה משנה את קצב ההליכה — ההשפעה שלה נמצאת במקום אחר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5C7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מהירות ההליכה: ללא הבדל מובהק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29262"/>
              </p:ext>
            </p:extLst>
          </p:nvPr>
        </p:nvGraphicFramePr>
        <p:xfrm>
          <a:off x="736600" y="2377440"/>
          <a:ext cx="4841242" cy="2103120"/>
        </p:xfrm>
        <a:graphic>
          <a:graphicData uri="http://schemas.openxmlformats.org/drawingml/2006/table">
            <a:tbl>
              <a:tblPr/>
              <a:tblGrid>
                <a:gridCol w="15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השוואה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בלי רצועה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עם רצועה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מובהקות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האטה</a:t>
                      </a: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כללית</a:t>
                      </a: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he-IL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כל </a:t>
                      </a: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he-IL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מול כל </a:t>
                      </a: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זהה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מפגש ראשון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הליכה שנייה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זמן ממוצע (ABC)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17.20 שנ'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17.39 שנ'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14400" y="44348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 דרך שנבדקה — לא נמצא הבדל מובהק סטטיסטית במהירות בין הליכה עם רצועה ובלעדיה.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 txBox="1"/>
          <p:nvPr/>
        </p:nvSpPr>
        <p:spPr>
          <a:xfrm>
            <a:off x="644652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החוויה הסובייקטיבית: הבדל מובהק</a:t>
            </a:r>
            <a:endParaRPr lang="en-US" sz="14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29918"/>
              </p:ext>
            </p:extLst>
          </p:nvPr>
        </p:nvGraphicFramePr>
        <p:xfrm>
          <a:off x="6305550" y="2377440"/>
          <a:ext cx="5073652" cy="1828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מדד סובייקטיבי (1–9)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בלי רצועה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עם רצועה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מובהקות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תחושת ביטחון אישי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תחושת שליטה כללית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הכלב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הרגיש</a:t>
                      </a: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כשותף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נסיינים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נסיינים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פי ~2.5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46520" y="4114800"/>
            <a:ext cx="4800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הרצועה אינה משנה את הביצועים המכניים — אך פועלת ככלי חברתי-פסיכולוגי: מעלה ביטחון, שליטה ותחושת שותפות.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F2A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פרדוקס הרצועה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ממצא מפתיע: הרצועה מצמצמת פערים בין נסיינים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הרצועה אינה מסייעת לכל הנסיינים באותה מידה — השפעתה מתרכזת אצל מי שדיווח על התחושה הנמוכה ביותר בלעדיה: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7315200" cy="1700784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מדד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מי שהרגיש נמוך (מתחת לחציון)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מי שהרגיש גבוה (מעל לחציון)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שיפור בביטחון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+1.18  (n=40, p=0.0002)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−0.56  (n=36)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שיפור בשליטה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+1.87  (n=39, p&lt;0.0001)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−0.38  (n=37)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194560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 txBox="1"/>
          <p:nvPr/>
        </p:nvSpPr>
        <p:spPr>
          <a:xfrm>
            <a:off x="845820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פיזור תחושת השליטה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834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1.81  /  2.40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566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סטיית תקן עם רצועה  /  בלי רצועה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9776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סטיית תקן נמוכה יותר = קבוצה אחידה יותר. הרצועה מרימה את מי שהרגיש הכי פחות טוב, ומצמצמת את הפער בין הנסיינים.</a:t>
            </a:r>
            <a:endParaRPr lang="en-US" sz="1150" dirty="0"/>
          </a:p>
        </p:txBody>
      </p:sp>
      <p:sp>
        <p:nvSpPr>
          <p:cNvPr id="5" name="Text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הסתייגות מתודולוגית: חלק מהאפקט עשוי לנבוע מ"רגרסיה לממוצע" — אך צמצום הפיזור בפועל, ומובהקות התוצאה בקבוצה הנמוכה, תומכים באפקט אמיתי.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F2A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פרדוקס הרצועה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תזמון הרצועה אינו משפיע — אך השפעתה אינה אחידה בין נסיינים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תזמון מתן הרצועה: ללא השפעה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rtl="1"/>
            <a:r>
              <a:rPr lang="he-IL" sz="1400" dirty="0">
                <a:effectLst/>
                <a:latin typeface="Google Sans Text"/>
              </a:rPr>
              <a:t>נבדק בשלוש דרכים נפרדות — בכל אחת מהן לא נמצא הבדל מובהק (p&gt;0.08). </a:t>
            </a:r>
          </a:p>
          <a:p>
            <a:pPr marR="0" lvl="0" algn="r" rtl="1"/>
            <a:endParaRPr lang="he-IL" sz="1400" dirty="0"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effectLst/>
                <a:latin typeface="Google Sans Text"/>
              </a:rPr>
              <a:t>מדד ביטחון משוקלל: רצועה-קודם -0.11 מול בלי-קודם +0.11 (p0.57). </a:t>
            </a:r>
          </a:p>
          <a:p>
            <a:pPr marR="0" lvl="0" algn="r" rtl="1"/>
            <a:endParaRPr lang="he-IL" sz="1400" dirty="0"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effectLst/>
                <a:latin typeface="Google Sans Text"/>
              </a:rPr>
              <a:t>ההבדל הזעיר שכן נמצא הולך דווקא בכיוון ההפוך לציפייה המקורית. </a:t>
            </a:r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644652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השפעה מקטבת, לא אחידה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rtl="1"/>
            <a:r>
              <a:rPr lang="he-IL" sz="1400" dirty="0">
                <a:effectLst/>
                <a:latin typeface="Google Sans Text"/>
              </a:rPr>
              <a:t>במחצית מהנסיינים הרגישו טוב יותר עם הרצועה — 49% בביטחון, 57% בשליטה. </a:t>
            </a:r>
          </a:p>
          <a:p>
            <a:pPr marR="0" lvl="0" algn="r" rtl="1"/>
            <a:endParaRPr lang="he-IL" sz="1400" dirty="0"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effectLst/>
                <a:latin typeface="Google Sans Text"/>
              </a:rPr>
              <a:t>אך כרבע דיווחו על ירידה: 28% ירדו בביטחון, 24% ירדו בשליטה. </a:t>
            </a:r>
          </a:p>
          <a:p>
            <a:pPr marR="0" lvl="0" algn="r" rtl="1"/>
            <a:endParaRPr lang="he-IL" sz="1400" dirty="0">
              <a:effectLst/>
              <a:latin typeface="Google Sans Text"/>
            </a:endParaRPr>
          </a:p>
          <a:p>
            <a:pPr marR="0" lvl="0" algn="r" rtl="1"/>
            <a:r>
              <a:rPr lang="he-IL" sz="1400" dirty="0"/>
              <a:t>מי שהלך קודם בלי רצועה, הרגיש יותר שהרצועה הופכת את הכלב לשותף (64% לעומת 43%). ההבדל לא מובהק (p=0.098), אבל מרמז שהרצועה בולטת יותר כשיש למה להשוות אותה.</a:t>
            </a:r>
            <a:endParaRPr lang="he-IL" sz="1400" dirty="0">
              <a:effectLst/>
              <a:latin typeface="Google Sans Text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בשורה התחתונה: מה שקובע הוא שהרצועה ביד בכלל — לא מתי היא ניתנת. היא גם אינה פתרון אוניברסלי לכל הנסיינים.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אישוש עצמאי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הדיווח העצמי של הנסיינים מתואם עם המדידה האובייקטיבית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150223"/>
              </p:ext>
            </p:extLst>
          </p:nvPr>
        </p:nvGraphicFramePr>
        <p:xfrm>
          <a:off x="640080" y="1783080"/>
          <a:ext cx="658368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דירוג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עצמי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</a:t>
                      </a:r>
                      <a:r>
                        <a:rPr lang="he-IL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שאלון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קשר עם ההאטה בפועל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מובהקות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"שמרתי על הקצב הטבעי שלי"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p=0.001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"ההליכה הרגישה טבעית"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p=0.013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"הרגשתי צורך לשנות קצב"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p=0.024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"הרגשתי בטוח/ה"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3434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מקורות נתונים בלתי-תלויים — מדידה בפועל ודיווח עצמי — מצביעים על אותה מסקנה.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589520" y="178308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 txBox="1"/>
          <p:nvPr/>
        </p:nvSpPr>
        <p:spPr>
          <a:xfrm>
            <a:off x="7818120" y="1965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7.47/9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788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דירוג הנאה מההליכה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108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5.73/9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מוטיבציה להליכה ארוכה יותר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710430"/>
            <a:ext cx="3566160" cy="0"/>
          </a:xfrm>
          <a:prstGeom prst="line">
            <a:avLst/>
          </a:prstGeom>
          <a:noFill/>
          <a:ln w="12700">
            <a:solidFill>
              <a:srgbClr val="C7D6D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 txBox="1"/>
          <p:nvPr/>
        </p:nvSpPr>
        <p:spPr>
          <a:xfrm>
            <a:off x="7818120" y="448056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100" dirty="0"/>
              <a:t>שאלת "האם פחדת?" (כן/לא; 30 מתוך 76 השיבו כן) לא ניבאה הבדל בזמן ההליכה — (p=0.38) החשש המודע כנראה אינו הגורם הישיר להאטה. </a:t>
            </a:r>
            <a:endParaRPr lang="en-US" sz="1100" dirty="0"/>
          </a:p>
        </p:txBody>
      </p:sp>
      <p:sp>
        <p:nvSpPr>
          <p:cNvPr id="4" name="Text 10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חזרה לקוד הבקרה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ניתוח הקוד שולל הסבר טכני להאטה — זוהי תגובה אנושית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32460" y="1713992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7FAF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הרובוט אינו כופה קצב איטי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906780" y="23291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400" dirty="0"/>
              <a:t>מהירותו המקסימלית 2.0 מ'/ש' (גבוהה בהרבה מקצב הליכה רגיל, והיא מוגבלת למהירות האדם + 0.8 מ'/ש' בלבד. האדם קובע את הקצב, הרובוט רק עוקב אחריו.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82677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77640"/>
            <a:ext cx="42481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ההשוואה בין עם ובלי רצועה נקייה מהטיה מכנית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62000" y="4401820"/>
            <a:ext cx="4815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he-IL" sz="1400" dirty="0"/>
              <a:t>קוד הבקר מבוסס אך ורק על מדידת UWB — ואין בו שורת קוד אחת המתייחסת לרצועה. הקוד זהה לחלוטין בין תנאי B לבין תנאי C.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6446520" y="19659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המשמעות המחקרית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51460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כיוון שהקוד זהה בין התנאים, כל הבדל שנמדד בין קבוצות המחקר נובע ממה שהאדם חש — לא משינוי מכני ברובוט. זהו חיזוק </a:t>
            </a:r>
            <a:r>
              <a:rPr lang="en-US" sz="140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ישיר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r" rtl="1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לפרדוקס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הרצועה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ההשפעה פסיכולוגית, לא תפקודית.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5166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מפורט בעמוד "הסבר על הקוד" בוויקי של הפרויקט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01168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מהתובנה האנושית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אל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מודל הלמידה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בני אדם מאיצים ומאטים באופן לא רציף, כיצד יכול הרובוט להקדים את התנועה — במקום להגיב אליה באיחור?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למידת מכונה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מודל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e-IL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ל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חיזוי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סדרה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עת</a:t>
            </a:r>
            <a:r>
              <a:rPr lang="he-IL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 של מהירות הליכה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852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he-IL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מנבא את מהירות ההליכה של האדם 3 צעדים קדימה</a:t>
            </a:r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אופק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חיזוי של כ-0.36 שניות, בקצב דגימה של 8.3Hz</a:t>
            </a:r>
            <a:endParaRPr lang="en-US" sz="1500" dirty="0"/>
          </a:p>
          <a:p>
            <a:pPr marL="0" indent="0" algn="r" rtl="1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מעניק לרובוט זמן תגובה להפעלת מנועים ולהקדמת התנועה — מבלי להקריב דיוק חיזוי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7132320" y="1965959"/>
            <a:ext cx="4114800" cy="443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למה חיזוי מראש חשוב?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331720"/>
            <a:ext cx="4114800" cy="166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בקרה תגובתית מגיבה רק לאחר שהאדם כבר שינה קצב, ולכן תמיד מפגרת אחרי המציאות.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בקרה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מנבאת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את השינוי הקרב ומקדימה </a:t>
            </a:r>
            <a:r>
              <a:rPr lang="en-US" sz="160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</a:t>
            </a:r>
            <a:r>
              <a:rPr lang="en-US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he-IL" sz="16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הבקר הנוכחי מחליק את המהירות, ולכן מגיב באיחור.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למידת מכונה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הנתונים והאימון: חלוקה נקייה למניעת דליפת מידע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 מהירות אמיתית שנותחו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373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מאפיינים בזמן אמת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017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5000"/>
              </a:lnSpc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היסטוריית מהירויות, ממוצעים נעים ומדדי </a:t>
            </a:r>
            <a:r>
              <a:rPr lang="en-US" sz="10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מגמה</a:t>
            </a: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האצה</a:t>
            </a: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האטה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7863840" y="1965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מניעת דליפת מידע (Data Leakage)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377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החלוקה בוצעה לפי אדם — נסיין שהופיע בקבוצת האימון לא יכול להופיע בקבוצת הבדיקה: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78481"/>
              </p:ext>
            </p:extLst>
          </p:nvPr>
        </p:nvGraphicFramePr>
        <p:xfrm>
          <a:off x="7863840" y="3108960"/>
          <a:ext cx="3429000" cy="18288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קבוצה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מס' נסיינים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אימון (Train)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ולידציה (Validation)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בדיקה — לא נראו מעולם (Test)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1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3794760"/>
            <a:ext cx="6766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 txBox="1"/>
          <p:nvPr/>
        </p:nvSpPr>
        <p:spPr>
          <a:xfrm>
            <a:off x="914400" y="4023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מקור הנתונים: הרובוט עצמו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48056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המודל אומן על נתוני מהירות אמיתיים (speed_mps) שנוצרו בפועל על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ידי</a:t>
            </a: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FollowController</a:t>
            </a: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בזמן ריצת הרובוט — לא על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נתונים</a:t>
            </a: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מדומים</a:t>
            </a:r>
            <a:r>
              <a:rPr lang="he-IL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12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למידת מכונה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ביצועי המודל תחת הערכה מחמירה: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בדיקה</a:t>
            </a: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חוזרת 5</a:t>
            </a:r>
            <a:r>
              <a:rPr lang="he-IL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פעמים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0.184 ± 0.021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מטר </a:t>
            </a:r>
            <a:r>
              <a:rPr lang="he-IL" sz="11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לשניה</a:t>
            </a:r>
            <a:r>
              <a:rPr lang="he-IL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 txBox="1"/>
          <p:nvPr/>
        </p:nvSpPr>
        <p:spPr>
          <a:xfrm>
            <a:off x="33832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0.135 ± 0.013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מטר לשנייה </a:t>
            </a: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8F1F5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61264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 ± 1.7%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שונות</a:t>
            </a: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מוסברת</a:t>
            </a: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R² 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88696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10.4% ± 1.8%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שיפור מול ניחוש נאיבי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0080" y="3520440"/>
          <a:ext cx="6400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269480" y="35204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DCEAF0"/>
          </a:solidFill>
          <a:ln/>
          <a:effectLst>
            <a:outerShdw blurRad="101600" dist="38100" dir="5400000" algn="bl" rotWithShape="0">
              <a:srgbClr val="1A2233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 txBox="1"/>
          <p:nvPr/>
        </p:nvSpPr>
        <p:spPr>
          <a:xfrm>
            <a:off x="754380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ממצא בלתי-צפוי</a:t>
            </a:r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4114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הרובוט הנוכחי, המחליק מהירות באמצעות פילטר פשוט, מציג ביצועים גרועים יותר אף מניחוש נאיבי — הוא מפגר במיוחד ברגעי האצה או האטה.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5349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ה-XGBoost משפר ב-34.5% ביחס לקוד הרובוט </a:t>
            </a:r>
            <a:r>
              <a:rPr lang="en-US" sz="12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הקיים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באותה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חלוקת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בדיקה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מגבלות ועבודה עתידית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מגבלות מתודולוגיות וכיווני מחקר להמשך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 algn="r" rtl="1"/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מודל החיזוי הוכח בניתוח אופליין, אך עדיין אינו משולב בבקר הרובוט — הצעד הבא הוא לשלב אותו ולמדוד אם "המחיר הקבוע" של ההאטה מצטמצם. </a:t>
            </a:r>
          </a:p>
          <a:p>
            <a:pPr marR="0" lvl="0" algn="r" rtl="1"/>
            <a:b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</a:br>
            <a:endParaRPr lang="he-IL" sz="1400" dirty="0">
              <a:solidFill>
                <a:srgbClr val="1F1F1F"/>
              </a:solidFill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השוואות התזמון מבוססות על קבוצות שונות של אנשים (כ-35 בכל קבוצה) — רעש סטטיסטי גבוה יותר; ניסוי המשך בעיצוב ABB מול A,C,C יאפשר בדיקה מדויקת יותר. </a:t>
            </a:r>
          </a:p>
          <a:p>
            <a:pPr marR="0" lvl="0" algn="r" rtl="1"/>
            <a:endParaRPr lang="he-IL" sz="1400" dirty="0">
              <a:solidFill>
                <a:srgbClr val="1F1F1F"/>
              </a:solidFill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בדיקת "האם הרצועה מגבירה הסתגלות" הושוותה בין קבוצות שונות של נסיינים, לא בין תנאי אותו נסיין. </a:t>
            </a:r>
          </a:p>
          <a:p>
            <a:pPr marR="0" lvl="0" algn="r" rtl="1"/>
            <a:b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</a:br>
            <a:endParaRPr lang="he-IL" sz="1400" dirty="0">
              <a:solidFill>
                <a:srgbClr val="1F1F1F"/>
              </a:solidFill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בהשוואת שיפור מול נקודת פתיחה קיימת הטיית "רגרסיה לממוצע" — חלק מאפקט היישור בין נסיינים עשוי להיות מוגזם. </a:t>
            </a:r>
          </a:p>
          <a:p>
            <a:pPr marR="0" lvl="0" algn="r" rtl="1"/>
            <a:b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</a:br>
            <a:endParaRPr lang="he-IL" sz="1400" dirty="0">
              <a:solidFill>
                <a:srgbClr val="1F1F1F"/>
              </a:solidFill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solidFill>
                  <a:srgbClr val="1F1F1F"/>
                </a:solidFill>
                <a:latin typeface="Google Sans Text"/>
              </a:rPr>
              <a:t>ק</a:t>
            </a:r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בצי המהירויות הגולמיים (10Hz) מכילים מידע רב מעבר לזמן השלמה בלבד — הזדמנות לניתוח עתידי מעמיק יותר. </a:t>
            </a:r>
          </a:p>
          <a:p>
            <a:pPr marL="342900" marR="0" lvl="0" indent="-342900" algn="r" rtl="1">
              <a:buFont typeface="Arial" panose="020B0604020202020204" pitchFamily="34" charset="0"/>
              <a:buChar char="•"/>
            </a:pPr>
            <a:endParaRPr lang="he-IL" sz="1400" dirty="0">
              <a:solidFill>
                <a:srgbClr val="1F1F1F"/>
              </a:solidFill>
              <a:effectLst/>
              <a:latin typeface="Google Sans Text"/>
            </a:endParaRPr>
          </a:p>
          <a:p>
            <a:pPr marR="0" lvl="0" algn="r" rtl="1"/>
            <a:r>
              <a:rPr lang="he-IL" sz="1400" dirty="0">
                <a:solidFill>
                  <a:srgbClr val="1F1F1F"/>
                </a:solidFill>
                <a:effectLst/>
                <a:latin typeface="Google Sans Text"/>
              </a:rPr>
              <a:t>הבדיקה החלשה ביותר של המודל (שיפור של 7.5% בלבד) מרמזת על תת-קבוצת נסיינים עם דפוסי הליכה תנודתיים וקשים יותר לחיזוי. 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100" dirty="0">
                <a:solidFill>
                  <a:srgbClr val="F2A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ארבע מסקנות מרכזיות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4983480" y="2103120"/>
            <a:ext cx="502920" cy="502920"/>
          </a:xfrm>
          <a:prstGeom prst="ellipse">
            <a:avLst/>
          </a:prstGeom>
          <a:solidFill>
            <a:srgbClr val="F2A95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49834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ההאטה אמיתית ומדידה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נוכחות הרובוט מאטה הליכה ב-14.3% במפגש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הראשון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ממצא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חזק, עקבי בשני עיצובי ניסוי, ולא תוצאה של תקלה בקוד.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0561320" y="2103120"/>
            <a:ext cx="502920" cy="502920"/>
          </a:xfrm>
          <a:prstGeom prst="ellipse">
            <a:avLst/>
          </a:prstGeom>
          <a:solidFill>
            <a:srgbClr val="F2A95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105613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ההתרגלות חלקית בלבד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060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ההתרגלות מקטינה את ההאטה בכמחצית — אך אינה מבטלת אותה: נשאר "מחיר קבוע" של כשנייה.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4983480" y="4389120"/>
            <a:ext cx="502920" cy="502920"/>
          </a:xfrm>
          <a:prstGeom prst="ellipse">
            <a:avLst/>
          </a:prstGeom>
          <a:solidFill>
            <a:srgbClr val="F2A95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49834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הרצועה היא כלי פסיכולוגי, לא מכני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8920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אינה משפיעה על מהירות ההליכה — אך מעלה ביטחון ושליטה, ומצמצמת בעיקר את הפער אצל מי שהרגיש הכי פחות בטוח.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A25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561320" y="4389120"/>
            <a:ext cx="502920" cy="502920"/>
          </a:xfrm>
          <a:prstGeom prst="ellipse">
            <a:avLst/>
          </a:prstGeom>
          <a:solidFill>
            <a:srgbClr val="F2A95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 txBox="1"/>
          <p:nvPr/>
        </p:nvSpPr>
        <p:spPr>
          <a:xfrm>
            <a:off x="105613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343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חיזוי מקדים משפר את הבקרה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8920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משפר 10.4% מול ניחוש נאיבי, ו-34.5% ביחס לקוד הרובוט הקיים.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robot_go2_finale  |  בקר עקיבה מבוסס UWB לרובוט Unitree Go2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2672</Words>
  <Application>Microsoft Office PowerPoint</Application>
  <PresentationFormat>מסך רחב</PresentationFormat>
  <Paragraphs>361</Paragraphs>
  <Slides>21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Google Sans Text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אוריאן אילוז</cp:lastModifiedBy>
  <cp:revision>6</cp:revision>
  <dcterms:created xsi:type="dcterms:W3CDTF">2026-09-21T22:02:21Z</dcterms:created>
  <dcterms:modified xsi:type="dcterms:W3CDTF">2026-09-23T07:32:56Z</dcterms:modified>
</cp:coreProperties>
</file>